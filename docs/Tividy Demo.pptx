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3"/>
  </p:sldMasterIdLst>
  <p:notesMasterIdLst>
    <p:notesMasterId r:id="rId26"/>
  </p:notesMasterIdLst>
  <p:handoutMasterIdLst>
    <p:handoutMasterId r:id="rId27"/>
  </p:handoutMasterIdLst>
  <p:sldIdLst>
    <p:sldId id="298" r:id="rId4"/>
    <p:sldId id="322" r:id="rId5"/>
    <p:sldId id="299" r:id="rId6"/>
    <p:sldId id="333" r:id="rId7"/>
    <p:sldId id="349" r:id="rId8"/>
    <p:sldId id="334" r:id="rId9"/>
    <p:sldId id="335" r:id="rId10"/>
    <p:sldId id="336" r:id="rId11"/>
    <p:sldId id="350" r:id="rId12"/>
    <p:sldId id="339" r:id="rId13"/>
    <p:sldId id="340" r:id="rId14"/>
    <p:sldId id="341" r:id="rId15"/>
    <p:sldId id="342" r:id="rId16"/>
    <p:sldId id="343" r:id="rId17"/>
    <p:sldId id="344" r:id="rId18"/>
    <p:sldId id="346" r:id="rId19"/>
    <p:sldId id="345" r:id="rId20"/>
    <p:sldId id="347" r:id="rId21"/>
    <p:sldId id="348" r:id="rId22"/>
    <p:sldId id="338" r:id="rId23"/>
    <p:sldId id="328" r:id="rId24"/>
    <p:sldId id="33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2D7"/>
    <a:srgbClr val="FFFFFF"/>
    <a:srgbClr val="FFAFA4"/>
    <a:srgbClr val="F2ACA9"/>
    <a:srgbClr val="FFB3A6"/>
    <a:srgbClr val="C8A5B1"/>
    <a:srgbClr val="F3DF9B"/>
    <a:srgbClr val="E6D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157" autoAdjust="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C6B4B7-5B04-9AD8-5D6A-8846B9A2BA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FBE4B-FBF7-BD1A-139F-83C286BC84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00BAC-FB81-492E-97B7-A02B7B36BE0F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19583-E7E7-5714-7287-DE2308D2A6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49DF6-D32F-D283-FFE9-E677A74D18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7EC48-817D-441E-A589-E61E6F1983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657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10/30/2026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8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4C02-A582-1101-521E-880A77E7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5B78F-1EF8-AFC5-1438-ABB8F6079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68880-7E3F-581B-B9B4-2A3ADF324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BDEE-DD6F-3E49-AEC6-EA2CCD79C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442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15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A6222-4EA9-3D0E-4636-21DFF501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39983C-421B-0A1E-D5A8-98406EED5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24F84-50F8-B78A-CB1B-2D1464E57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D1111-19DA-FE4A-1C72-6F17ABBB8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44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D3F7B-F1DA-3FD1-4AC5-282B4C8A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B6DC2-E6A4-7675-CD11-202A462D8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98CD6-0274-D2DC-5455-2A4AF7357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2714B-F4AB-930C-30E3-A72DD0C63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10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F7B2-B7C9-309F-18FE-6091F2AA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7F30C-F73A-222E-E156-E571CDF4B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5F1C8-2778-25EE-45C8-73514CE0D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CADEE-E8F2-4A8A-1EB5-3E41190B8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5638-A3D0-16EF-FBCA-C7812ABB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AA762-13FD-83AC-DBC3-7F1C58FC3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C4303-75C9-E8C7-80C7-C9C696843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32F76-7DC1-5E22-4DDE-99D4808F8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22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9436-1E67-548D-D58F-A5DB2D88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61EBC-6D51-9D88-AFF5-8695D7578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C0851-EB3F-E2C3-EA45-26750D7C4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54BD1-768C-97BB-0ADF-16DE5F626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054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F3BD-441B-4712-8992-F64172525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DDC35-EEAA-DFBB-F5D8-488D9E52B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064E2-B384-88F4-7544-29CA6B9ED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3FCBD-6CBC-0625-ED15-A29FBF7D3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06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D1AB-2820-E678-CFE6-DFB130CD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AD226-B40F-4518-ECC3-3AA71CCD4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00E3C-DFD6-E67B-8FBB-9539E654F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C7FAA-851D-5276-EF35-721A930E5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6177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F9E3-4176-0EE7-5BE0-305C3EEA7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7FE88-177A-82F7-06FC-7F6127AB2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16452-8A54-126E-09C3-E7DA1C80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7C547-398D-5387-45CB-165F6CD8B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420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2694-9705-83AC-C722-40E3C57A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4A83E-73E7-E691-E1DC-5BCFFEBF0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8CC92-A53C-BE2C-7C4B-8ABA8F0F9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73CD4-8499-E96A-AAF2-999D9D077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70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DFB6-9D1E-69CC-44E2-D51ED72A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C3429-2F38-2CCF-EB0D-725FB893C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F1E3-DBFB-D75A-44ED-C630AE19F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0ED08-176D-629D-E0B9-DB7BA0446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982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F85D-2F57-21EE-583E-62709148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9AEA8-6A0C-91C4-DADE-7CFF5F659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6BDF8-4C12-5BEE-FBCD-3DB313887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7441B-77DA-FBA3-6087-BD69D88B4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14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47C06-610D-47D0-B77D-BD7BA02D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C3687-F711-7037-C3A1-586F80C8D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BE514-D6DC-00FD-2442-0BE6D34CA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D9F91-E8C4-DB5C-B7EA-554E381C0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819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6CFBC-5B81-3E24-C9C7-F6162D7C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04B32-C91C-E127-8895-B0D4C137B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76DB5-EFB4-07C2-80C4-4A92737B9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5FBAC-3E51-078A-8716-96B0D8D46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804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EAAF-99D2-4082-D5A1-D0786039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7965D-CD66-B9F7-5309-B5FBD93DC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C534E-9F95-52FE-2A09-C217119F8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E13EF-F1CF-5F91-11AA-6FCC94760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40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955A-8614-94F0-3895-57087CFC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2971F-14FF-E355-F9A8-9941A12D9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7A1ED-62BD-8F8C-91FC-9BE7EE723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FD6A1-4CF2-87AE-0B4A-0857CE102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371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2102-7A24-02DF-C1EB-DD53E391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7FA96-9678-CD07-DB96-EB2063B8B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A36C-D909-F938-B78B-4FB507086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71E5-AD79-B978-0F8F-06212A27A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94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6B7A-24C1-C5DE-9C8F-671F28F3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97493-CC9C-B8BC-A782-D72EBD5F4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07002-4557-3A06-ABE5-B79B2FB38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4B75E-DE25-5817-B6ED-DBBDFC89B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6687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4797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4C01-049B-CA0D-AAE3-F418B12B3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596DF-D895-FB2D-D25B-12A713EA4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14EB8-CC28-B8F7-BCA7-8B2D9D83A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FAE01-34A2-3AB7-5697-7AB502D6C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8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D69E3-FFC8-340B-E0C7-BAB5168FE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69" y="3864"/>
            <a:ext cx="12178261" cy="68502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2792" y="0"/>
            <a:ext cx="10186416" cy="6858000"/>
          </a:xfrm>
        </p:spPr>
        <p:txBody>
          <a:bodyPr tIns="91440" anchor="ctr">
            <a:noAutofit/>
          </a:bodyPr>
          <a:lstStyle>
            <a:lvl1pPr algn="ctr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71228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11DD4-DAC6-3F0A-375C-8734155CED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08" y="4054"/>
            <a:ext cx="12177584" cy="68498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816" y="451406"/>
            <a:ext cx="594360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1211" y="1182614"/>
            <a:ext cx="4832430" cy="82296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605066B-CAE4-A78C-2A64-12177259717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13" y="2372810"/>
            <a:ext cx="4832428" cy="3819646"/>
          </a:xfrm>
        </p:spPr>
        <p:txBody>
          <a:bodyPr tIns="182880">
            <a:norm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46A0E-C4E1-C08D-1AFA-FC41F2BDC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612648"/>
            <a:ext cx="11201400" cy="3566160"/>
          </a:xfrm>
        </p:spPr>
        <p:txBody>
          <a:bodyPr bIns="0"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50088" y="4688450"/>
            <a:ext cx="4832431" cy="941832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7613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D07426-496A-EEDB-DB53-15DA6D9537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921446-DF3F-3352-E38A-4ADECA56C50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65475" y="2556387"/>
            <a:ext cx="8237726" cy="351421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283464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2pPr>
            <a:lvl3pPr marL="12001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3pPr>
            <a:lvl4pPr marL="16573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4pPr>
            <a:lvl5pPr marL="21145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2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B1BAA-0BBA-094D-36BB-52209C5744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775" y="-7257"/>
            <a:ext cx="1216946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0280" y="532435"/>
            <a:ext cx="5924874" cy="5868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106E5D-F0FF-0F55-C4FF-7DD177C58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0654" y="960120"/>
            <a:ext cx="4621593" cy="3145536"/>
          </a:xfrm>
        </p:spPr>
        <p:txBody>
          <a:bodyPr/>
          <a:lstStyle>
            <a:lvl1pPr algn="ctr">
              <a:defRPr sz="5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6AF09F6-0A31-C3AA-DF3A-7E062458EA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0654" y="4768520"/>
            <a:ext cx="4621593" cy="729206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E30A96-253C-806E-DA56-9C892971C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1499" y="-8626"/>
            <a:ext cx="4227271" cy="688975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3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81E90A88-865C-F9ED-C2BB-25421BBEA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A3B1C17-899D-2FE2-0B01-60643853FB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8721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defRPr sz="1800"/>
            </a:lvl1pPr>
            <a:lvl2pPr indent="-283464">
              <a:defRPr sz="1600"/>
            </a:lvl2pPr>
            <a:lvl3pPr indent="-283464">
              <a:defRPr sz="1400"/>
            </a:lvl3pPr>
            <a:lvl4pPr indent="-283464">
              <a:defRPr sz="1200"/>
            </a:lvl4pPr>
            <a:lvl5pPr indent="-283464"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7288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3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28253-E3DA-6D81-345D-04C29F719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696E5A-37E4-7844-655B-462912CE36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123" y="-899"/>
            <a:ext cx="165735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58E6485-C17B-2771-87BA-0398E09E183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165475" y="2555875"/>
            <a:ext cx="8237538" cy="36206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5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E5B0F-FC85-2832-52DD-74B32C94F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00" y="0"/>
            <a:ext cx="1216659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1439" y="451406"/>
            <a:ext cx="10354906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09997" y="1100989"/>
            <a:ext cx="9464150" cy="921683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algn="ctr"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D558C2-5388-26DA-C2BE-AC226426CD2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79615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2D1E30A-3770-4825-553A-18C9DD79385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1344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710" y="5811519"/>
            <a:ext cx="1742307" cy="13071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7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7A6BBBB3-641A-CFC0-516F-63B74C40F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7091362" cy="34718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45190" y="2301069"/>
            <a:ext cx="2684773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84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3F6EF2A-D737-1D2B-9BD8-C4AFD0408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10149840" cy="34718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3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07E53-1889-5FED-84AB-36B4B655B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0090" y="1"/>
            <a:ext cx="7626710" cy="6857046"/>
          </a:xfrm>
        </p:spPr>
        <p:txBody>
          <a:bodyPr bIns="0" anchor="ctr">
            <a:noAutofit/>
          </a:bodyPr>
          <a:lstStyle>
            <a:lvl1pPr algn="l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4A964A-4098-65AF-D012-2925365FB9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0588" y="-953"/>
            <a:ext cx="320040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10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DC7EA-10AE-1A0E-D197-CAB9FBAC93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5389" y="0"/>
            <a:ext cx="1216659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5B76D1-7BAB-95CC-D082-E5857BA2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061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352415-529E-A5FD-DC37-5D14118B5B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4423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EF759D5-1499-DEC7-BEAE-9ADBC4D3525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46163" y="2304733"/>
            <a:ext cx="2713037" cy="3760787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1pPr>
            <a:lvl2pPr marL="50292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2pPr>
            <a:lvl3pPr marL="68580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3pPr>
            <a:lvl4pPr marL="86868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4pPr>
            <a:lvl5pPr marL="105156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4152CA30-831A-8375-BB30-3BC996DB9AE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066468" y="2304733"/>
            <a:ext cx="4972858" cy="3760788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1pPr>
            <a:lvl2pPr marL="7452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2pPr>
            <a:lvl3pPr marL="12024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3pPr>
            <a:lvl4pPr marL="16596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4pPr>
            <a:lvl5pPr marL="21168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5362880-674E-FD38-9934-5A4AAEB49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63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556C0-01A0-755F-2117-1A2AE6158E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470"/>
            <a:ext cx="12192000" cy="68450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19" y="70439"/>
            <a:ext cx="12178162" cy="3533581"/>
          </a:xfrm>
        </p:spPr>
        <p:txBody>
          <a:bodyPr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512F2E-49BF-E18A-D886-72AEA30E1D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1879" y="3645514"/>
            <a:ext cx="8009681" cy="731838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r>
              <a:rPr lang="en-US" dirty="0"/>
              <a:t>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AB62AB-B562-C5FF-87CB-C3F72C70AE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4826000"/>
            <a:ext cx="4001770" cy="590174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F0E5B37-CF3B-656F-77B2-E3393E957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7560" y="4826000"/>
            <a:ext cx="4001770" cy="590174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2334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93716"/>
            <a:ext cx="10149840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93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>
            <a:extLst>
              <a:ext uri="{FF2B5EF4-FFF2-40B4-BE49-F238E27FC236}">
                <a16:creationId xmlns:a16="http://schemas.microsoft.com/office/drawing/2014/main" id="{07BDF2BC-0745-E548-2C4E-C6BA53E36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FB7E-7B45-8CA9-6B42-9FE063623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474562" cy="315537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21F3B-AA5B-C4FE-C298-92D1BDABA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23264" y="47289"/>
            <a:ext cx="461817" cy="6826102"/>
          </a:xfrm>
          <a:prstGeom prst="rect">
            <a:avLst/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8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763867"/>
            <a:ext cx="10820400" cy="129302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853FA9-5039-030A-0DE6-246C9F50A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1818" y="5571597"/>
            <a:ext cx="2743200" cy="154708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79" r:id="rId3"/>
    <p:sldLayoutId id="2147483653" r:id="rId4"/>
    <p:sldLayoutId id="2147483657" r:id="rId5"/>
    <p:sldLayoutId id="2147483681" r:id="rId6"/>
    <p:sldLayoutId id="2147483680" r:id="rId7"/>
    <p:sldLayoutId id="2147483662" r:id="rId8"/>
    <p:sldLayoutId id="2147483683" r:id="rId9"/>
    <p:sldLayoutId id="2147483684" r:id="rId10"/>
    <p:sldLayoutId id="2147483654" r:id="rId11"/>
    <p:sldLayoutId id="2147483667" r:id="rId12"/>
    <p:sldLayoutId id="2147483665" r:id="rId13"/>
    <p:sldLayoutId id="2147483685" r:id="rId14"/>
    <p:sldLayoutId id="2147483686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26165F-7820-1D40-988A-76F18A38F7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400" dirty="0"/>
              <a:t>By</a:t>
            </a:r>
            <a:br>
              <a:rPr lang="en-US" sz="4400" dirty="0"/>
            </a:br>
            <a:r>
              <a:rPr lang="en-US" sz="4400" dirty="0"/>
              <a:t>The Vibe Engineers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7D5EB-A8CF-8E92-28D1-978A11792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141" y="1105981"/>
            <a:ext cx="3907718" cy="319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08323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3A09-8EE1-0589-6584-5A80C8CB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A8314A1D-E8CE-C7A5-477D-AC830108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64588"/>
            <a:ext cx="5541960" cy="928823"/>
          </a:xfrm>
        </p:spPr>
        <p:txBody>
          <a:bodyPr anchor="b"/>
          <a:lstStyle/>
          <a:p>
            <a:r>
              <a:rPr lang="en-US" dirty="0"/>
              <a:t>Background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08D0CEA6-AF38-AE14-6270-D7ACE6E8FE4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991499" y="-8626"/>
            <a:ext cx="4227271" cy="6889750"/>
          </a:xfrm>
        </p:spPr>
      </p:pic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A5817512-F496-86DB-FF1C-124524152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866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98107D1-B408-CF41-D098-F18F30FB8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621814"/>
          </a:xfrm>
        </p:spPr>
        <p:txBody>
          <a:bodyPr tIns="0" bIns="0"/>
          <a:lstStyle/>
          <a:p>
            <a:r>
              <a:rPr lang="en-US" dirty="0"/>
              <a:t>The Design Patterns</a:t>
            </a: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24CE9DC1-A2DD-1D43-E9E8-622D407D8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901A28-F113-23AB-78D4-AA03F9D1E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61" y="904973"/>
            <a:ext cx="6142577" cy="5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8863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3B20-917B-631E-1A7A-97569BDCD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CA8B14C8-998F-F0F8-D0BC-D5A75950C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876692"/>
          </a:xfrm>
        </p:spPr>
        <p:txBody>
          <a:bodyPr tIns="0" bIns="0"/>
          <a:lstStyle/>
          <a:p>
            <a:r>
              <a:rPr lang="en-US" dirty="0"/>
              <a:t>The Five Important Patterns:</a:t>
            </a:r>
            <a:br>
              <a:rPr lang="en-US" dirty="0"/>
            </a:br>
            <a:r>
              <a:rPr lang="en-US" dirty="0"/>
              <a:t>Composite 1</a:t>
            </a: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0B37C927-CEE4-8108-E248-C0C86CA93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B1E4E-DFEC-F0B3-A8B8-10E638B312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81" t="15656" r="61002" b="47972"/>
          <a:stretch>
            <a:fillRect/>
          </a:stretch>
        </p:blipFill>
        <p:spPr>
          <a:xfrm>
            <a:off x="3266183" y="1161316"/>
            <a:ext cx="4782333" cy="558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67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F264-06D4-7EE1-0ACD-56E0F3EE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3A3FD38-AF9D-5DF4-D717-22B4A683A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876692"/>
          </a:xfrm>
        </p:spPr>
        <p:txBody>
          <a:bodyPr tIns="0" bIns="0"/>
          <a:lstStyle/>
          <a:p>
            <a:r>
              <a:rPr lang="en-US" dirty="0"/>
              <a:t>The Five Important Patterns:</a:t>
            </a:r>
            <a:br>
              <a:rPr lang="en-US" dirty="0"/>
            </a:br>
            <a:r>
              <a:rPr lang="en-US" dirty="0"/>
              <a:t>Composite 2</a:t>
            </a: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7A61F03-5623-274C-AC18-DF49B89B4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BEE8D-265F-AA17-143D-A3BE9BE4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02" t="59096" r="42859" b="19484"/>
          <a:stretch>
            <a:fillRect/>
          </a:stretch>
        </p:blipFill>
        <p:spPr>
          <a:xfrm>
            <a:off x="1732149" y="1602739"/>
            <a:ext cx="8727702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2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4ABF-3394-209E-8F95-0EDAE186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BD6A3734-50D1-641E-FD71-B34EA3280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5DAB13C0-AC8E-4F5F-3F54-37962CE31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876692"/>
          </a:xfrm>
        </p:spPr>
        <p:txBody>
          <a:bodyPr tIns="0" bIns="0"/>
          <a:lstStyle/>
          <a:p>
            <a:r>
              <a:rPr lang="en-US" dirty="0"/>
              <a:t>The Five Important Patterns:</a:t>
            </a:r>
            <a:br>
              <a:rPr lang="en-US" dirty="0"/>
            </a:br>
            <a:r>
              <a:rPr lang="en-US" dirty="0"/>
              <a:t>Chain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818C56-7E72-0EB4-DCD2-47C862F282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37" t="63932" r="12932" b="3284"/>
          <a:stretch>
            <a:fillRect/>
          </a:stretch>
        </p:blipFill>
        <p:spPr>
          <a:xfrm>
            <a:off x="3606820" y="1464469"/>
            <a:ext cx="4152617" cy="453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55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6CB33-0E9D-A9CF-3054-AD8CB98C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D733621-9EA1-2098-EC9B-58D06E510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9596F19F-4DB6-92A6-2C0D-66175D84E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876692"/>
          </a:xfrm>
        </p:spPr>
        <p:txBody>
          <a:bodyPr tIns="0" bIns="0"/>
          <a:lstStyle/>
          <a:p>
            <a:r>
              <a:rPr lang="en-US" dirty="0"/>
              <a:t>The Five Important Patterns:</a:t>
            </a:r>
            <a:br>
              <a:rPr lang="en-US" dirty="0"/>
            </a:br>
            <a:r>
              <a:rPr lang="en-US" dirty="0"/>
              <a:t>Decorator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05B719-5BAC-D7C6-09AF-3C8D7EEB0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33" t="63445" r="13397"/>
          <a:stretch>
            <a:fillRect/>
          </a:stretch>
        </p:blipFill>
        <p:spPr>
          <a:xfrm>
            <a:off x="2794904" y="1538650"/>
            <a:ext cx="6602192" cy="477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90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44526-77F1-3920-941F-5EE48109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9F1FD1FE-548F-B219-F9F9-26EAD61D4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3E0F3-6CF7-0B4B-AFD0-AAC07C4891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575" r="61808" b="59753"/>
          <a:stretch>
            <a:fillRect/>
          </a:stretch>
        </p:blipFill>
        <p:spPr>
          <a:xfrm>
            <a:off x="2579739" y="1572078"/>
            <a:ext cx="7032522" cy="449410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702D3ADC-ADAA-18D8-8CF0-5755357FA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876692"/>
          </a:xfrm>
        </p:spPr>
        <p:txBody>
          <a:bodyPr tIns="0" bIns="0"/>
          <a:lstStyle/>
          <a:p>
            <a:r>
              <a:rPr lang="en-US" dirty="0"/>
              <a:t>The Five Important Patterns:</a:t>
            </a:r>
            <a:br>
              <a:rPr lang="en-US" dirty="0"/>
            </a:br>
            <a:r>
              <a:rPr lang="en-US" dirty="0"/>
              <a:t>Mediator 1</a:t>
            </a:r>
          </a:p>
        </p:txBody>
      </p:sp>
    </p:spTree>
    <p:extLst>
      <p:ext uri="{BB962C8B-B14F-4D97-AF65-F5344CB8AC3E}">
        <p14:creationId xmlns:p14="http://schemas.microsoft.com/office/powerpoint/2010/main" val="322413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67B0B-8493-7AF6-E492-CC2BAE38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8BB67C04-A614-A5EA-830F-C00B472A3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FC538EB2-1235-7D34-25F1-64E201636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876692"/>
          </a:xfrm>
        </p:spPr>
        <p:txBody>
          <a:bodyPr tIns="0" bIns="0"/>
          <a:lstStyle/>
          <a:p>
            <a:r>
              <a:rPr lang="en-US" dirty="0"/>
              <a:t>The Five Important Patterns:</a:t>
            </a:r>
            <a:br>
              <a:rPr lang="en-US" dirty="0"/>
            </a:br>
            <a:r>
              <a:rPr lang="en-US" dirty="0"/>
              <a:t>Mediator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13267E-7D28-1DF8-59D5-688E2315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25" t="59745" r="22150" b="20710"/>
          <a:stretch>
            <a:fillRect/>
          </a:stretch>
        </p:blipFill>
        <p:spPr>
          <a:xfrm>
            <a:off x="1757849" y="1646521"/>
            <a:ext cx="8676302" cy="356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8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C3FB-68D7-FA29-2071-6FCB75E9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9C6AE005-F665-A1AA-46E2-26C2F9A06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5DD0D-3F4E-CC8A-B26F-747D429A9B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48" t="55486" b="18950"/>
          <a:stretch>
            <a:fillRect/>
          </a:stretch>
        </p:blipFill>
        <p:spPr>
          <a:xfrm>
            <a:off x="2185723" y="1293193"/>
            <a:ext cx="7820554" cy="448784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7F3005BB-6BD2-18C8-8D2F-49DDB9464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2995" y="113122"/>
            <a:ext cx="4348710" cy="876692"/>
          </a:xfrm>
        </p:spPr>
        <p:txBody>
          <a:bodyPr tIns="0" bIns="0"/>
          <a:lstStyle/>
          <a:p>
            <a:r>
              <a:rPr lang="en-US" dirty="0"/>
              <a:t>The Five Important Patterns:</a:t>
            </a:r>
            <a:br>
              <a:rPr lang="en-US" dirty="0"/>
            </a:br>
            <a:r>
              <a:rPr lang="en-US" dirty="0"/>
              <a:t>Builder</a:t>
            </a:r>
          </a:p>
        </p:txBody>
      </p:sp>
    </p:spTree>
    <p:extLst>
      <p:ext uri="{BB962C8B-B14F-4D97-AF65-F5344CB8AC3E}">
        <p14:creationId xmlns:p14="http://schemas.microsoft.com/office/powerpoint/2010/main" val="375699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8C05-E004-D544-2086-7F2C1F860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9AB53BD3-2447-21A5-57F7-D98C3238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31594"/>
            <a:ext cx="5541960" cy="994811"/>
          </a:xfrm>
        </p:spPr>
        <p:txBody>
          <a:bodyPr anchor="b"/>
          <a:lstStyle/>
          <a:p>
            <a:r>
              <a:rPr lang="en-US" dirty="0"/>
              <a:t>Activity Diagrams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304591A1-33C7-4006-7B2D-343AE398F22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991499" y="-8626"/>
            <a:ext cx="4227271" cy="6889750"/>
          </a:xfrm>
        </p:spPr>
      </p:pic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E1B05D7D-4EF5-0F83-C9A2-E94A2DBC0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75833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D80D-A829-C897-2B46-AC8C1250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B0CB0CEF-AD7B-7FEE-85ED-FA6E67996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555D395-62D5-B827-7E02-45C71C963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467" y="150829"/>
            <a:ext cx="6811075" cy="876692"/>
          </a:xfrm>
        </p:spPr>
        <p:txBody>
          <a:bodyPr tIns="0" bIns="0"/>
          <a:lstStyle/>
          <a:p>
            <a:r>
              <a:rPr lang="en-ZA" dirty="0"/>
              <a:t>Diagram 1:</a:t>
            </a:r>
            <a:br>
              <a:rPr lang="en-ZA" dirty="0"/>
            </a:br>
            <a:r>
              <a:rPr lang="en-ZA" dirty="0"/>
              <a:t>workflow execution showing the progression of a workflow instance from creation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105A08-CF20-1696-B39F-6C556C442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987" y="1112363"/>
            <a:ext cx="5572037" cy="551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7380-9AF5-87CF-8B8A-A422E427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E1B8609-63AC-FB91-1E68-41D2C12A7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37B492B9-334F-22EB-6E0E-DF3C374E6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467" y="150829"/>
            <a:ext cx="6811075" cy="876692"/>
          </a:xfrm>
        </p:spPr>
        <p:txBody>
          <a:bodyPr tIns="0" bIns="0"/>
          <a:lstStyle/>
          <a:p>
            <a:r>
              <a:rPr lang="en-ZA" dirty="0"/>
              <a:t>Diagram 2:</a:t>
            </a:r>
            <a:br>
              <a:rPr lang="en-ZA" dirty="0"/>
            </a:br>
            <a:r>
              <a:rPr lang="en-ZA" dirty="0"/>
              <a:t>work assignment and completion, approval and escalation, failure and recovery, or event handling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CC852-4A76-98CB-6034-DD840C3DE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994" y="1059253"/>
            <a:ext cx="7739406" cy="564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9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8F23-010A-E867-46FC-E5EE26FF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7FAE41ED-3FFD-738D-93B2-E91808281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C631A223-75D1-0666-95C7-B35CF4399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467" y="150829"/>
            <a:ext cx="6811075" cy="876692"/>
          </a:xfrm>
        </p:spPr>
        <p:txBody>
          <a:bodyPr tIns="0" bIns="0"/>
          <a:lstStyle/>
          <a:p>
            <a:r>
              <a:rPr lang="en-ZA" dirty="0"/>
              <a:t>Diagram 3:</a:t>
            </a:r>
            <a:br>
              <a:rPr lang="en-ZA" dirty="0"/>
            </a:br>
            <a:r>
              <a:rPr lang="en-ZA" dirty="0"/>
              <a:t>workflow from your selected scenario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95E11-9BB4-890D-2B3D-2C3DE0DA0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139" y="1161670"/>
            <a:ext cx="4864825" cy="56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6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D4E6-752B-0688-A7ED-FF65C389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8B0425D-0E55-8520-C0DE-1EA0EC55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31594"/>
            <a:ext cx="5541960" cy="994811"/>
          </a:xfrm>
        </p:spPr>
        <p:txBody>
          <a:bodyPr anchor="b"/>
          <a:lstStyle/>
          <a:p>
            <a:r>
              <a:rPr lang="en-US" dirty="0"/>
              <a:t>Sequence Diagrams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77673575-8304-74AA-6296-83513CF5CF8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991499" y="-8626"/>
            <a:ext cx="4227271" cy="6889750"/>
          </a:xfrm>
        </p:spPr>
      </p:pic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2EE6CB4B-A5CE-CD40-543C-AACB1045A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07389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0B82-87E6-7DF8-B273-5A069C98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70B3D93-FFE2-3BD2-0935-D85AB67D1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68499184-2674-6B60-DB34-B6EAAE80C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467" y="150829"/>
            <a:ext cx="6811075" cy="876692"/>
          </a:xfrm>
        </p:spPr>
        <p:txBody>
          <a:bodyPr tIns="0" bIns="0"/>
          <a:lstStyle/>
          <a:p>
            <a:r>
              <a:rPr lang="en-ZA" dirty="0"/>
              <a:t>Diagram 1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76C87-C1A9-6A57-B9B1-AE8FE3C3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44" y="1111068"/>
            <a:ext cx="10683711" cy="488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771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34E5-34DA-0140-F723-A1E0ACB1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E3C6CCBA-60B9-7677-C829-8F8CDEF82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437DC9FD-C555-58E4-07CC-9C0E8A861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467" y="150829"/>
            <a:ext cx="6811075" cy="876692"/>
          </a:xfrm>
        </p:spPr>
        <p:txBody>
          <a:bodyPr tIns="0" bIns="0"/>
          <a:lstStyle/>
          <a:p>
            <a:r>
              <a:rPr lang="en-ZA" dirty="0"/>
              <a:t>Diagram 2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D9ED19-122E-F141-5E7E-FBEE67260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447" y="1100769"/>
            <a:ext cx="6589106" cy="575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85897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4384-6A44-E1E7-1D45-C8AC003C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2036B975-76AB-3B97-C452-9720D190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31594"/>
            <a:ext cx="5541960" cy="994811"/>
          </a:xfrm>
        </p:spPr>
        <p:txBody>
          <a:bodyPr anchor="b"/>
          <a:lstStyle/>
          <a:p>
            <a:r>
              <a:rPr lang="en-US" dirty="0"/>
              <a:t>State Diagram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6D5EE5F5-5E6B-FAEE-7962-B5F9C3EA217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991499" y="-8626"/>
            <a:ext cx="4227271" cy="6889750"/>
          </a:xfrm>
        </p:spPr>
      </p:pic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E2B1D7F1-C4AD-B5DD-4C0A-E98404404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35033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28644-85E3-DBEB-52BA-4A0418B6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1A669F33-7762-887C-58CB-C23E71019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8EB79116-24E0-40AB-4BC1-07EF0D78C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467" y="150829"/>
            <a:ext cx="6811075" cy="876692"/>
          </a:xfrm>
        </p:spPr>
        <p:txBody>
          <a:bodyPr tIns="0" bIns="0"/>
          <a:lstStyle/>
          <a:p>
            <a:r>
              <a:rPr lang="en-ZA" dirty="0"/>
              <a:t>Diagram 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9D577B-E805-144C-0E71-411646CA6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62" y="1150069"/>
            <a:ext cx="2657876" cy="541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88953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6917-E67E-287B-A01F-2439E964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F21BCE88-76D4-3E6F-8E42-F94EA479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931594"/>
            <a:ext cx="5541960" cy="994811"/>
          </a:xfrm>
        </p:spPr>
        <p:txBody>
          <a:bodyPr anchor="b"/>
          <a:lstStyle/>
          <a:p>
            <a:r>
              <a:rPr lang="en-US" dirty="0"/>
              <a:t>Live Demo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51274F3B-DD4A-C8DC-A016-82D67B372A2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991499" y="-8626"/>
            <a:ext cx="4227271" cy="6889750"/>
          </a:xfrm>
        </p:spPr>
      </p:pic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478FAD57-0925-3A40-1E43-CA0A662D7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638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5465-1429-D275-D49E-7909CB0F0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70" y="1696825"/>
            <a:ext cx="7964903" cy="2865748"/>
          </a:xfrm>
        </p:spPr>
        <p:txBody>
          <a:bodyPr/>
          <a:lstStyle/>
          <a:p>
            <a:pPr lvl="0"/>
            <a:r>
              <a:rPr lang="en-US" sz="5400" noProof="0" dirty="0"/>
              <a:t>Any Questions?</a:t>
            </a:r>
          </a:p>
        </p:txBody>
      </p:sp>
      <p:pic>
        <p:nvPicPr>
          <p:cNvPr id="7" name="Picture Placeholder 6" descr="A palm tree with orange and yellow sky">
            <a:extLst>
              <a:ext uri="{FF2B5EF4-FFF2-40B4-BE49-F238E27FC236}">
                <a16:creationId xmlns:a16="http://schemas.microsoft.com/office/drawing/2014/main" id="{5D9F4C5F-82A5-4F7A-2AC4-3B5A562C6F7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t="11" b="11"/>
          <a:stretch/>
        </p:blipFill>
        <p:spPr>
          <a:xfrm>
            <a:off x="443123" y="-899"/>
            <a:ext cx="1657350" cy="6858000"/>
          </a:xfr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9D4463-318E-3270-28E4-84BE78874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868210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F9D7-A310-6535-8C5B-1E07A672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F0FB-2B4B-1635-5BD0-A43E87F7A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" y="70439"/>
            <a:ext cx="12178162" cy="353358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439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670762_wac_SD_V12" id="{7A12FC3B-6876-4B64-BD29-85411680474D}" vid="{FAF419BD-AB88-4BA8-B634-A11C4B16F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C01411-FC44-465B-AE6A-48D4493414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A918A9-726B-4A91-8209-236B8401AF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Vapor Trail design</Template>
  <TotalTime>44</TotalTime>
  <Words>170</Words>
  <Application>Microsoft Office PowerPoint</Application>
  <PresentationFormat>Widescreen</PresentationFormat>
  <Paragraphs>64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Century Gothic</vt:lpstr>
      <vt:lpstr>Custom</vt:lpstr>
      <vt:lpstr>   By The Vibe Engineers</vt:lpstr>
      <vt:lpstr>Background</vt:lpstr>
      <vt:lpstr>The Design Patterns</vt:lpstr>
      <vt:lpstr>The Five Important Patterns: Composite 1</vt:lpstr>
      <vt:lpstr>The Five Important Patterns: Composite 2</vt:lpstr>
      <vt:lpstr>The Five Important Patterns: Chain</vt:lpstr>
      <vt:lpstr>The Five Important Patterns: Decorator</vt:lpstr>
      <vt:lpstr>The Five Important Patterns: Mediator 1</vt:lpstr>
      <vt:lpstr>The Five Important Patterns: Mediator 2</vt:lpstr>
      <vt:lpstr>The Five Important Patterns: Builder</vt:lpstr>
      <vt:lpstr>Activity Diagrams</vt:lpstr>
      <vt:lpstr>Diagram 1: workflow execution showing the progression of a workflow instance from creation</vt:lpstr>
      <vt:lpstr>Diagram 2: work assignment and completion, approval and escalation, failure and recovery, or event handling</vt:lpstr>
      <vt:lpstr>Diagram 3: workflow from your selected scenario</vt:lpstr>
      <vt:lpstr>Sequence Diagrams</vt:lpstr>
      <vt:lpstr>Diagram 1</vt:lpstr>
      <vt:lpstr>Diagram 2</vt:lpstr>
      <vt:lpstr>State Diagram</vt:lpstr>
      <vt:lpstr>Diagram 1</vt:lpstr>
      <vt:lpstr>Live Demo</vt:lpstr>
      <vt:lpstr>Any 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B Pitts</dc:creator>
  <cp:lastModifiedBy>Mr. B Pitts</cp:lastModifiedBy>
  <cp:revision>3</cp:revision>
  <dcterms:created xsi:type="dcterms:W3CDTF">2026-10-26T18:15:36Z</dcterms:created>
  <dcterms:modified xsi:type="dcterms:W3CDTF">2026-10-30T10:49:06Z</dcterms:modified>
</cp:coreProperties>
</file>